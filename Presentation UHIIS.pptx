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2" r:id="rId11"/>
    <p:sldId id="264" r:id="rId12"/>
    <p:sldId id="270" r:id="rId13"/>
    <p:sldId id="271" r:id="rId14"/>
    <p:sldId id="266" r:id="rId15"/>
    <p:sldId id="269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A3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hierarchy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47C757F0-AA23-46BE-9311-EA432CDEEAA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Bernard Bazimya (CEO) </a:t>
          </a:r>
          <a:r>
            <a:rPr lang="en-US"/>
            <a:t/>
          </a:r>
          <a:endParaRPr lang="en-US"/>
        </a:p>
      </dgm:t>
    </dgm:pt>
    <dgm:pt modelId="{AB39B06D-FE6C-48B2-B5B4-77CD0C8CF7AD}" cxnId="{646D3E87-EE20-4735-BD79-9C52645C07E4}" type="parTrans">
      <dgm:prSet/>
      <dgm:spPr/>
      <dgm:t>
        <a:bodyPr/>
        <a:p>
          <a:endParaRPr lang="en-US"/>
        </a:p>
      </dgm:t>
    </dgm:pt>
    <dgm:pt modelId="{DF0D1C21-B79E-4875-B7FA-EF183CB48B88}" cxnId="{646D3E87-EE20-4735-BD79-9C52645C07E4}" type="sibTrans">
      <dgm:prSet/>
      <dgm:spPr/>
      <dgm:t>
        <a:bodyPr/>
        <a:p>
          <a:endParaRPr lang="en-US"/>
        </a:p>
      </dgm:t>
    </dgm:pt>
    <dgm:pt modelId="{12714FC6-8B41-47E5-91DD-F02D34D23B9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Chantal Elyse(CFO)</a:t>
          </a:r>
          <a:r>
            <a:rPr lang="en-US"/>
            <a:t/>
          </a:r>
          <a:endParaRPr lang="en-US"/>
        </a:p>
      </dgm:t>
    </dgm:pt>
    <dgm:pt modelId="{EACD17F5-D793-4A43-B489-D1804D50CFEF}" cxnId="{DAEA7A9E-D7EF-4011-8649-C7A265B1D88F}" type="parTrans">
      <dgm:prSet/>
      <dgm:spPr/>
      <dgm:t>
        <a:bodyPr/>
        <a:p>
          <a:endParaRPr lang="en-US"/>
        </a:p>
      </dgm:t>
    </dgm:pt>
    <dgm:pt modelId="{FA45D93F-0724-4936-AA45-E6762732A19D}" cxnId="{DAEA7A9E-D7EF-4011-8649-C7A265B1D88F}" type="sibTrans">
      <dgm:prSet/>
      <dgm:spPr/>
      <dgm:t>
        <a:bodyPr/>
        <a:p>
          <a:endParaRPr lang="en-US"/>
        </a:p>
      </dgm:t>
    </dgm:pt>
    <dgm:pt modelId="{4EC42421-831D-4CD3-8215-2AF4300F9C0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Taylor Washington(CMO)</a:t>
          </a:r>
          <a:r>
            <a:rPr lang="en-US"/>
            <a:t/>
          </a:r>
          <a:endParaRPr lang="en-US"/>
        </a:p>
      </dgm:t>
    </dgm:pt>
    <dgm:pt modelId="{8D5FB264-0A5C-4C3A-85B7-453D9BD837DF}" cxnId="{B3A8BA4A-B258-4795-92DD-0E26CFF60D90}" type="parTrans">
      <dgm:prSet/>
      <dgm:spPr/>
      <dgm:t>
        <a:bodyPr/>
        <a:p>
          <a:endParaRPr lang="en-US"/>
        </a:p>
      </dgm:t>
    </dgm:pt>
    <dgm:pt modelId="{A1825131-D805-48C8-BFCE-E45C02E6F5CE}" cxnId="{B3A8BA4A-B258-4795-92DD-0E26CFF60D90}" type="sibTrans">
      <dgm:prSet/>
      <dgm:spPr/>
      <dgm:t>
        <a:bodyPr/>
        <a:p>
          <a:endParaRPr lang="en-US"/>
        </a:p>
      </dgm:t>
    </dgm:pt>
    <dgm:pt modelId="{CF717C8A-B40B-4AFF-BF49-65ABB7DF819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Ashraf Abdul Muumin (CIO)</a:t>
          </a:r>
          <a:r>
            <a:rPr lang="en-US"/>
            <a:t/>
          </a:r>
          <a:endParaRPr lang="en-US"/>
        </a:p>
      </dgm:t>
    </dgm:pt>
    <dgm:pt modelId="{CCF68ADE-40B6-47D0-93C1-88EC13ADC8AC}" cxnId="{3CFC0F5F-F5FE-4FB5-9982-0B050EEF001A}" type="parTrans">
      <dgm:prSet/>
      <dgm:spPr/>
      <dgm:t>
        <a:bodyPr/>
        <a:p>
          <a:endParaRPr lang="en-US"/>
        </a:p>
      </dgm:t>
    </dgm:pt>
    <dgm:pt modelId="{630D3E0B-D1D7-4E1A-8193-515AA5E1866F}" cxnId="{3CFC0F5F-F5FE-4FB5-9982-0B050EEF001A}" type="sibTrans">
      <dgm:prSet/>
      <dgm:spPr/>
      <dgm:t>
        <a:bodyPr/>
        <a:p>
          <a:endParaRPr lang="en-US"/>
        </a:p>
      </dgm:t>
    </dgm:pt>
    <dgm:pt modelId="{E498DC9C-C5AC-4482-A26F-3B99DC5D79F0}" type="pres">
      <dgm:prSet presAssocID="{A77D31B3-3808-4FBA-8FA4-CC8D448A17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28C3E8-5128-4BB6-90CC-A86769ECE335}" type="pres">
      <dgm:prSet presAssocID="{47C757F0-AA23-46BE-9311-EA432CDEEAA1}" presName="hierRoot1" presStyleCnt="0">
        <dgm:presLayoutVars>
          <dgm:hierBranch val="init"/>
        </dgm:presLayoutVars>
      </dgm:prSet>
      <dgm:spPr/>
    </dgm:pt>
    <dgm:pt modelId="{79147750-B6BF-43FD-83A0-7ACDC9B53EFF}" type="pres">
      <dgm:prSet presAssocID="{47C757F0-AA23-46BE-9311-EA432CDEEAA1}" presName="rootComposite1" presStyleCnt="0"/>
      <dgm:spPr/>
    </dgm:pt>
    <dgm:pt modelId="{AE79172D-D441-42BB-84EA-E3D989670DED}" type="pres">
      <dgm:prSet presAssocID="{47C757F0-AA23-46BE-9311-EA432CDEEAA1}" presName="rootText1" presStyleLbl="node0" presStyleIdx="0" presStyleCnt="1" custScaleX="234998" custLinFactNeighborX="25" custLinFactNeighborY="-31368">
        <dgm:presLayoutVars>
          <dgm:chPref val="3"/>
        </dgm:presLayoutVars>
      </dgm:prSet>
      <dgm:spPr/>
    </dgm:pt>
    <dgm:pt modelId="{86420519-308D-4A6A-8FEA-6FB2E39BA448}" type="pres">
      <dgm:prSet presAssocID="{47C757F0-AA23-46BE-9311-EA432CDEEAA1}" presName="rootConnector1" presStyleCnt="0"/>
      <dgm:spPr/>
    </dgm:pt>
    <dgm:pt modelId="{9A0FF10C-81C7-47CD-A320-768F2009480B}" type="pres">
      <dgm:prSet presAssocID="{47C757F0-AA23-46BE-9311-EA432CDEEAA1}" presName="hierChild2" presStyleCnt="0"/>
      <dgm:spPr/>
    </dgm:pt>
    <dgm:pt modelId="{6A259130-4455-44E0-969B-948D1249687E}" type="pres">
      <dgm:prSet presAssocID="{EACD17F5-D793-4A43-B489-D1804D50CFEF}" presName="Name37" presStyleLbl="parChTrans1D2" presStyleIdx="0" presStyleCnt="3"/>
      <dgm:spPr/>
    </dgm:pt>
    <dgm:pt modelId="{D6C5C065-A308-417C-8ECC-04FC2BEC646C}" type="pres">
      <dgm:prSet presAssocID="{12714FC6-8B41-47E5-91DD-F02D34D23B93}" presName="hierRoot2" presStyleCnt="0">
        <dgm:presLayoutVars>
          <dgm:hierBranch val="init"/>
        </dgm:presLayoutVars>
      </dgm:prSet>
      <dgm:spPr/>
    </dgm:pt>
    <dgm:pt modelId="{E36491EF-5019-46FD-BC82-1BD579B9EE0E}" type="pres">
      <dgm:prSet presAssocID="{12714FC6-8B41-47E5-91DD-F02D34D23B93}" presName="rootComposite" presStyleCnt="0"/>
      <dgm:spPr/>
    </dgm:pt>
    <dgm:pt modelId="{43B7C837-49D6-40CE-BBAB-953D9E4BA7ED}" type="pres">
      <dgm:prSet presAssocID="{12714FC6-8B41-47E5-91DD-F02D34D23B93}" presName="rootText" presStyleLbl="node2" presStyleIdx="0" presStyleCnt="3">
        <dgm:presLayoutVars>
          <dgm:chPref val="3"/>
        </dgm:presLayoutVars>
      </dgm:prSet>
      <dgm:spPr/>
    </dgm:pt>
    <dgm:pt modelId="{9A037140-9B69-4B9F-A134-F2F2EB0F2E32}" type="pres">
      <dgm:prSet presAssocID="{12714FC6-8B41-47E5-91DD-F02D34D23B93}" presName="rootConnector" presStyleCnt="0"/>
      <dgm:spPr/>
    </dgm:pt>
    <dgm:pt modelId="{FA37AA5D-87C2-47F6-9B72-B753C073E744}" type="pres">
      <dgm:prSet presAssocID="{12714FC6-8B41-47E5-91DD-F02D34D23B93}" presName="hierChild4" presStyleCnt="0"/>
      <dgm:spPr/>
    </dgm:pt>
    <dgm:pt modelId="{A7309641-2A58-41EA-9E42-56812CF298ED}" type="pres">
      <dgm:prSet presAssocID="{12714FC6-8B41-47E5-91DD-F02D34D23B93}" presName="hierChild5" presStyleCnt="0"/>
      <dgm:spPr/>
    </dgm:pt>
    <dgm:pt modelId="{F492B679-3C8C-4E72-95A8-8B81298826E7}" type="pres">
      <dgm:prSet presAssocID="{8D5FB264-0A5C-4C3A-85B7-453D9BD837DF}" presName="Name37" presStyleLbl="parChTrans1D2" presStyleIdx="1" presStyleCnt="3"/>
      <dgm:spPr/>
    </dgm:pt>
    <dgm:pt modelId="{C6F584B9-7EA2-46D8-913B-8F508509ECAB}" type="pres">
      <dgm:prSet presAssocID="{4EC42421-831D-4CD3-8215-2AF4300F9C01}" presName="hierRoot2" presStyleCnt="0">
        <dgm:presLayoutVars>
          <dgm:hierBranch val="init"/>
        </dgm:presLayoutVars>
      </dgm:prSet>
      <dgm:spPr/>
    </dgm:pt>
    <dgm:pt modelId="{6CAD9CE6-86A1-4F7D-98A6-3AF53F55F9E3}" type="pres">
      <dgm:prSet presAssocID="{4EC42421-831D-4CD3-8215-2AF4300F9C01}" presName="rootComposite" presStyleCnt="0"/>
      <dgm:spPr/>
    </dgm:pt>
    <dgm:pt modelId="{08A0D1D2-3A20-4D63-8E35-B7C8B6B16D48}" type="pres">
      <dgm:prSet presAssocID="{4EC42421-831D-4CD3-8215-2AF4300F9C01}" presName="rootText" presStyleLbl="node2" presStyleIdx="1" presStyleCnt="3">
        <dgm:presLayoutVars>
          <dgm:chPref val="3"/>
        </dgm:presLayoutVars>
      </dgm:prSet>
      <dgm:spPr/>
    </dgm:pt>
    <dgm:pt modelId="{6238C53E-A961-488B-8FBD-6EC13507B069}" type="pres">
      <dgm:prSet presAssocID="{4EC42421-831D-4CD3-8215-2AF4300F9C01}" presName="rootConnector" presStyleCnt="0"/>
      <dgm:spPr/>
    </dgm:pt>
    <dgm:pt modelId="{A9C46FD3-3BE9-4E6E-BFF6-B0B42B13F857}" type="pres">
      <dgm:prSet presAssocID="{4EC42421-831D-4CD3-8215-2AF4300F9C01}" presName="hierChild4" presStyleCnt="0"/>
      <dgm:spPr/>
    </dgm:pt>
    <dgm:pt modelId="{A663BBFB-A120-4F5B-82EC-DB644DB9966B}" type="pres">
      <dgm:prSet presAssocID="{4EC42421-831D-4CD3-8215-2AF4300F9C01}" presName="hierChild5" presStyleCnt="0"/>
      <dgm:spPr/>
    </dgm:pt>
    <dgm:pt modelId="{AB3A8128-6C86-49B7-B5CC-0153888815E5}" type="pres">
      <dgm:prSet presAssocID="{CCF68ADE-40B6-47D0-93C1-88EC13ADC8AC}" presName="Name37" presStyleLbl="parChTrans1D2" presStyleIdx="2" presStyleCnt="3"/>
      <dgm:spPr/>
    </dgm:pt>
    <dgm:pt modelId="{1A917F9A-DDE6-4568-B35C-7FABCEF0A586}" type="pres">
      <dgm:prSet presAssocID="{CF717C8A-B40B-4AFF-BF49-65ABB7DF8190}" presName="hierRoot2" presStyleCnt="0">
        <dgm:presLayoutVars>
          <dgm:hierBranch val="init"/>
        </dgm:presLayoutVars>
      </dgm:prSet>
      <dgm:spPr/>
    </dgm:pt>
    <dgm:pt modelId="{FA949B67-3DB7-47FA-97C9-4A653E762F22}" type="pres">
      <dgm:prSet presAssocID="{CF717C8A-B40B-4AFF-BF49-65ABB7DF8190}" presName="rootComposite" presStyleCnt="0"/>
      <dgm:spPr/>
    </dgm:pt>
    <dgm:pt modelId="{7D64F4A3-0E55-47AC-A59B-9D5A9DC25552}" type="pres">
      <dgm:prSet presAssocID="{CF717C8A-B40B-4AFF-BF49-65ABB7DF8190}" presName="rootText" presStyleLbl="node2" presStyleIdx="2" presStyleCnt="3">
        <dgm:presLayoutVars>
          <dgm:chPref val="3"/>
        </dgm:presLayoutVars>
      </dgm:prSet>
      <dgm:spPr/>
    </dgm:pt>
    <dgm:pt modelId="{5667CB49-EC34-46BC-AD2D-72F3BD95D049}" type="pres">
      <dgm:prSet presAssocID="{CF717C8A-B40B-4AFF-BF49-65ABB7DF8190}" presName="rootConnector" presStyleCnt="0"/>
      <dgm:spPr/>
    </dgm:pt>
    <dgm:pt modelId="{EB3A10DA-2FA4-4DAD-8341-8078D7F83716}" type="pres">
      <dgm:prSet presAssocID="{CF717C8A-B40B-4AFF-BF49-65ABB7DF8190}" presName="hierChild4" presStyleCnt="0"/>
      <dgm:spPr/>
    </dgm:pt>
    <dgm:pt modelId="{B05C5608-85C8-433E-A928-1755312B673B}" type="pres">
      <dgm:prSet presAssocID="{CF717C8A-B40B-4AFF-BF49-65ABB7DF8190}" presName="hierChild5" presStyleCnt="0"/>
      <dgm:spPr/>
    </dgm:pt>
    <dgm:pt modelId="{0E819307-1B4E-434E-BA76-D5A4192B0663}" type="pres">
      <dgm:prSet presAssocID="{47C757F0-AA23-46BE-9311-EA432CDEEAA1}" presName="hierChild3" presStyleCnt="0"/>
      <dgm:spPr/>
    </dgm:pt>
  </dgm:ptLst>
  <dgm:cxnLst>
    <dgm:cxn modelId="{646D3E87-EE20-4735-BD79-9C52645C07E4}" srcId="{A77D31B3-3808-4FBA-8FA4-CC8D448A173E}" destId="{47C757F0-AA23-46BE-9311-EA432CDEEAA1}" srcOrd="0" destOrd="0" parTransId="{AB39B06D-FE6C-48B2-B5B4-77CD0C8CF7AD}" sibTransId="{DF0D1C21-B79E-4875-B7FA-EF183CB48B88}"/>
    <dgm:cxn modelId="{DAEA7A9E-D7EF-4011-8649-C7A265B1D88F}" srcId="{47C757F0-AA23-46BE-9311-EA432CDEEAA1}" destId="{12714FC6-8B41-47E5-91DD-F02D34D23B93}" srcOrd="0" destOrd="0" parTransId="{EACD17F5-D793-4A43-B489-D1804D50CFEF}" sibTransId="{FA45D93F-0724-4936-AA45-E6762732A19D}"/>
    <dgm:cxn modelId="{B3A8BA4A-B258-4795-92DD-0E26CFF60D90}" srcId="{47C757F0-AA23-46BE-9311-EA432CDEEAA1}" destId="{4EC42421-831D-4CD3-8215-2AF4300F9C01}" srcOrd="1" destOrd="0" parTransId="{8D5FB264-0A5C-4C3A-85B7-453D9BD837DF}" sibTransId="{A1825131-D805-48C8-BFCE-E45C02E6F5CE}"/>
    <dgm:cxn modelId="{3CFC0F5F-F5FE-4FB5-9982-0B050EEF001A}" srcId="{47C757F0-AA23-46BE-9311-EA432CDEEAA1}" destId="{CF717C8A-B40B-4AFF-BF49-65ABB7DF8190}" srcOrd="2" destOrd="0" parTransId="{CCF68ADE-40B6-47D0-93C1-88EC13ADC8AC}" sibTransId="{630D3E0B-D1D7-4E1A-8193-515AA5E1866F}"/>
    <dgm:cxn modelId="{2B5BDE79-3F37-4145-8ABF-C6E933624F34}" type="presOf" srcId="{A77D31B3-3808-4FBA-8FA4-CC8D448A173E}" destId="{E498DC9C-C5AC-4482-A26F-3B99DC5D79F0}" srcOrd="0" destOrd="0" presId="urn:microsoft.com/office/officeart/2005/8/layout/orgChart1"/>
    <dgm:cxn modelId="{C2C7ACB1-043E-431C-B03F-1F6963F6C9B2}" type="presParOf" srcId="{E498DC9C-C5AC-4482-A26F-3B99DC5D79F0}" destId="{F728C3E8-5128-4BB6-90CC-A86769ECE335}" srcOrd="0" destOrd="0" presId="urn:microsoft.com/office/officeart/2005/8/layout/orgChart1"/>
    <dgm:cxn modelId="{D569D767-D3EA-4E82-9577-022A8B3BD2C3}" type="presParOf" srcId="{F728C3E8-5128-4BB6-90CC-A86769ECE335}" destId="{79147750-B6BF-43FD-83A0-7ACDC9B53EFF}" srcOrd="0" destOrd="0" presId="urn:microsoft.com/office/officeart/2005/8/layout/orgChart1"/>
    <dgm:cxn modelId="{9EA4A49D-DE5D-4ED4-8CED-79BD60A2AC61}" type="presOf" srcId="{47C757F0-AA23-46BE-9311-EA432CDEEAA1}" destId="{79147750-B6BF-43FD-83A0-7ACDC9B53EFF}" srcOrd="0" destOrd="0" presId="urn:microsoft.com/office/officeart/2005/8/layout/orgChart1"/>
    <dgm:cxn modelId="{F5273A74-7FD2-4A59-BA0A-5F24109AAB98}" type="presParOf" srcId="{79147750-B6BF-43FD-83A0-7ACDC9B53EFF}" destId="{AE79172D-D441-42BB-84EA-E3D989670DED}" srcOrd="0" destOrd="0" presId="urn:microsoft.com/office/officeart/2005/8/layout/orgChart1"/>
    <dgm:cxn modelId="{043465B8-0BF7-412E-8CF4-73F1C2D999FD}" type="presOf" srcId="{47C757F0-AA23-46BE-9311-EA432CDEEAA1}" destId="{AE79172D-D441-42BB-84EA-E3D989670DED}" srcOrd="0" destOrd="0" presId="urn:microsoft.com/office/officeart/2005/8/layout/orgChart1"/>
    <dgm:cxn modelId="{05E1A4E6-571D-4A75-A741-05355B807DA7}" type="presParOf" srcId="{79147750-B6BF-43FD-83A0-7ACDC9B53EFF}" destId="{86420519-308D-4A6A-8FEA-6FB2E39BA448}" srcOrd="1" destOrd="0" presId="urn:microsoft.com/office/officeart/2005/8/layout/orgChart1"/>
    <dgm:cxn modelId="{891E3874-0742-44E8-8A9A-850E4394EE4A}" type="presOf" srcId="{47C757F0-AA23-46BE-9311-EA432CDEEAA1}" destId="{86420519-308D-4A6A-8FEA-6FB2E39BA448}" srcOrd="0" destOrd="0" presId="urn:microsoft.com/office/officeart/2005/8/layout/orgChart1"/>
    <dgm:cxn modelId="{B8719477-39CA-492F-8609-6A99841E3804}" type="presParOf" srcId="{F728C3E8-5128-4BB6-90CC-A86769ECE335}" destId="{9A0FF10C-81C7-47CD-A320-768F2009480B}" srcOrd="1" destOrd="0" presId="urn:microsoft.com/office/officeart/2005/8/layout/orgChart1"/>
    <dgm:cxn modelId="{C7DF2B8A-5875-4C95-9A01-51F26F53A016}" type="presParOf" srcId="{9A0FF10C-81C7-47CD-A320-768F2009480B}" destId="{6A259130-4455-44E0-969B-948D1249687E}" srcOrd="0" destOrd="1" presId="urn:microsoft.com/office/officeart/2005/8/layout/orgChart1"/>
    <dgm:cxn modelId="{2DC67CA6-0C62-4E89-91D9-68E252984A11}" type="presOf" srcId="{EACD17F5-D793-4A43-B489-D1804D50CFEF}" destId="{6A259130-4455-44E0-969B-948D1249687E}" srcOrd="0" destOrd="0" presId="urn:microsoft.com/office/officeart/2005/8/layout/orgChart1"/>
    <dgm:cxn modelId="{54EA1AAE-1249-4D48-8898-FE1261EC7785}" type="presParOf" srcId="{9A0FF10C-81C7-47CD-A320-768F2009480B}" destId="{D6C5C065-A308-417C-8ECC-04FC2BEC646C}" srcOrd="1" destOrd="1" presId="urn:microsoft.com/office/officeart/2005/8/layout/orgChart1"/>
    <dgm:cxn modelId="{3DA320BB-A847-45C0-8A5F-A057FFC7872D}" type="presParOf" srcId="{D6C5C065-A308-417C-8ECC-04FC2BEC646C}" destId="{E36491EF-5019-46FD-BC82-1BD579B9EE0E}" srcOrd="0" destOrd="1" presId="urn:microsoft.com/office/officeart/2005/8/layout/orgChart1"/>
    <dgm:cxn modelId="{849AD304-C838-417E-92A3-A277EC2A1E4B}" type="presOf" srcId="{12714FC6-8B41-47E5-91DD-F02D34D23B93}" destId="{E36491EF-5019-46FD-BC82-1BD579B9EE0E}" srcOrd="0" destOrd="0" presId="urn:microsoft.com/office/officeart/2005/8/layout/orgChart1"/>
    <dgm:cxn modelId="{76228638-E64B-49F6-8180-AE8EA632D7A5}" type="presParOf" srcId="{E36491EF-5019-46FD-BC82-1BD579B9EE0E}" destId="{43B7C837-49D6-40CE-BBAB-953D9E4BA7ED}" srcOrd="0" destOrd="0" presId="urn:microsoft.com/office/officeart/2005/8/layout/orgChart1"/>
    <dgm:cxn modelId="{0A1629E1-983F-48C9-819E-A7CE8F357218}" type="presOf" srcId="{12714FC6-8B41-47E5-91DD-F02D34D23B93}" destId="{43B7C837-49D6-40CE-BBAB-953D9E4BA7ED}" srcOrd="0" destOrd="0" presId="urn:microsoft.com/office/officeart/2005/8/layout/orgChart1"/>
    <dgm:cxn modelId="{EB17624B-DA48-4EC1-ADED-2A06D1FE1F00}" type="presParOf" srcId="{E36491EF-5019-46FD-BC82-1BD579B9EE0E}" destId="{9A037140-9B69-4B9F-A134-F2F2EB0F2E32}" srcOrd="1" destOrd="0" presId="urn:microsoft.com/office/officeart/2005/8/layout/orgChart1"/>
    <dgm:cxn modelId="{E43A1D85-21B1-40AF-9F7F-49711954E4DF}" type="presOf" srcId="{12714FC6-8B41-47E5-91DD-F02D34D23B93}" destId="{9A037140-9B69-4B9F-A134-F2F2EB0F2E32}" srcOrd="0" destOrd="0" presId="urn:microsoft.com/office/officeart/2005/8/layout/orgChart1"/>
    <dgm:cxn modelId="{32EB6B41-A7F5-4759-9768-DA55BB382867}" type="presParOf" srcId="{D6C5C065-A308-417C-8ECC-04FC2BEC646C}" destId="{FA37AA5D-87C2-47F6-9B72-B753C073E744}" srcOrd="1" destOrd="1" presId="urn:microsoft.com/office/officeart/2005/8/layout/orgChart1"/>
    <dgm:cxn modelId="{70E2B01D-3F07-4991-B5E4-1B095DE173AC}" type="presParOf" srcId="{D6C5C065-A308-417C-8ECC-04FC2BEC646C}" destId="{A7309641-2A58-41EA-9E42-56812CF298ED}" srcOrd="2" destOrd="1" presId="urn:microsoft.com/office/officeart/2005/8/layout/orgChart1"/>
    <dgm:cxn modelId="{3228BFA6-9888-40AB-AC0C-B959C8C9A650}" type="presParOf" srcId="{9A0FF10C-81C7-47CD-A320-768F2009480B}" destId="{F492B679-3C8C-4E72-95A8-8B81298826E7}" srcOrd="2" destOrd="1" presId="urn:microsoft.com/office/officeart/2005/8/layout/orgChart1"/>
    <dgm:cxn modelId="{3BF5E362-1548-421C-AAB2-827C29859C98}" type="presOf" srcId="{8D5FB264-0A5C-4C3A-85B7-453D9BD837DF}" destId="{F492B679-3C8C-4E72-95A8-8B81298826E7}" srcOrd="0" destOrd="0" presId="urn:microsoft.com/office/officeart/2005/8/layout/orgChart1"/>
    <dgm:cxn modelId="{670E2DFC-2B5B-43EF-BB33-5133E883C21F}" type="presParOf" srcId="{9A0FF10C-81C7-47CD-A320-768F2009480B}" destId="{C6F584B9-7EA2-46D8-913B-8F508509ECAB}" srcOrd="3" destOrd="1" presId="urn:microsoft.com/office/officeart/2005/8/layout/orgChart1"/>
    <dgm:cxn modelId="{827893EC-26F3-4E15-AC53-96D5FA8239A3}" type="presParOf" srcId="{C6F584B9-7EA2-46D8-913B-8F508509ECAB}" destId="{6CAD9CE6-86A1-4F7D-98A6-3AF53F55F9E3}" srcOrd="0" destOrd="3" presId="urn:microsoft.com/office/officeart/2005/8/layout/orgChart1"/>
    <dgm:cxn modelId="{0C3974D3-CD85-4637-8BC1-4E074B516176}" type="presOf" srcId="{4EC42421-831D-4CD3-8215-2AF4300F9C01}" destId="{6CAD9CE6-86A1-4F7D-98A6-3AF53F55F9E3}" srcOrd="0" destOrd="0" presId="urn:microsoft.com/office/officeart/2005/8/layout/orgChart1"/>
    <dgm:cxn modelId="{50DEA57D-E2C5-4DD2-8969-345EEB5D5914}" type="presParOf" srcId="{6CAD9CE6-86A1-4F7D-98A6-3AF53F55F9E3}" destId="{08A0D1D2-3A20-4D63-8E35-B7C8B6B16D48}" srcOrd="0" destOrd="0" presId="urn:microsoft.com/office/officeart/2005/8/layout/orgChart1"/>
    <dgm:cxn modelId="{D19197BB-823A-46AF-8D1C-A738735C75A7}" type="presOf" srcId="{4EC42421-831D-4CD3-8215-2AF4300F9C01}" destId="{08A0D1D2-3A20-4D63-8E35-B7C8B6B16D48}" srcOrd="0" destOrd="0" presId="urn:microsoft.com/office/officeart/2005/8/layout/orgChart1"/>
    <dgm:cxn modelId="{A71B47D6-3F4E-4513-B0C8-0A4817D6C7A6}" type="presParOf" srcId="{6CAD9CE6-86A1-4F7D-98A6-3AF53F55F9E3}" destId="{6238C53E-A961-488B-8FBD-6EC13507B069}" srcOrd="1" destOrd="0" presId="urn:microsoft.com/office/officeart/2005/8/layout/orgChart1"/>
    <dgm:cxn modelId="{F95C7F6A-D5DF-46EF-89D3-AE8E12F38622}" type="presOf" srcId="{4EC42421-831D-4CD3-8215-2AF4300F9C01}" destId="{6238C53E-A961-488B-8FBD-6EC13507B069}" srcOrd="0" destOrd="0" presId="urn:microsoft.com/office/officeart/2005/8/layout/orgChart1"/>
    <dgm:cxn modelId="{E45AA47F-1D55-4A02-8189-0133722D14A0}" type="presParOf" srcId="{C6F584B9-7EA2-46D8-913B-8F508509ECAB}" destId="{A9C46FD3-3BE9-4E6E-BFF6-B0B42B13F857}" srcOrd="1" destOrd="3" presId="urn:microsoft.com/office/officeart/2005/8/layout/orgChart1"/>
    <dgm:cxn modelId="{49F893A9-5267-463D-97BD-3D0646A4907E}" type="presParOf" srcId="{C6F584B9-7EA2-46D8-913B-8F508509ECAB}" destId="{A663BBFB-A120-4F5B-82EC-DB644DB9966B}" srcOrd="2" destOrd="3" presId="urn:microsoft.com/office/officeart/2005/8/layout/orgChart1"/>
    <dgm:cxn modelId="{6BBCCF4F-7851-4CA9-9053-25F408FDD599}" type="presParOf" srcId="{9A0FF10C-81C7-47CD-A320-768F2009480B}" destId="{AB3A8128-6C86-49B7-B5CC-0153888815E5}" srcOrd="4" destOrd="1" presId="urn:microsoft.com/office/officeart/2005/8/layout/orgChart1"/>
    <dgm:cxn modelId="{CD18D5AC-256E-4C30-98AF-EA49C1AC1045}" type="presOf" srcId="{CCF68ADE-40B6-47D0-93C1-88EC13ADC8AC}" destId="{AB3A8128-6C86-49B7-B5CC-0153888815E5}" srcOrd="0" destOrd="0" presId="urn:microsoft.com/office/officeart/2005/8/layout/orgChart1"/>
    <dgm:cxn modelId="{6D69B622-C1BE-41FE-91B7-231FCC4F55CE}" type="presParOf" srcId="{9A0FF10C-81C7-47CD-A320-768F2009480B}" destId="{1A917F9A-DDE6-4568-B35C-7FABCEF0A586}" srcOrd="5" destOrd="1" presId="urn:microsoft.com/office/officeart/2005/8/layout/orgChart1"/>
    <dgm:cxn modelId="{AA0E99C2-A75D-4703-9375-B16D3F6CA26E}" type="presParOf" srcId="{1A917F9A-DDE6-4568-B35C-7FABCEF0A586}" destId="{FA949B67-3DB7-47FA-97C9-4A653E762F22}" srcOrd="0" destOrd="5" presId="urn:microsoft.com/office/officeart/2005/8/layout/orgChart1"/>
    <dgm:cxn modelId="{64F782C2-B218-48B6-953A-9DE3F96A3C57}" type="presOf" srcId="{CF717C8A-B40B-4AFF-BF49-65ABB7DF8190}" destId="{FA949B67-3DB7-47FA-97C9-4A653E762F22}" srcOrd="0" destOrd="0" presId="urn:microsoft.com/office/officeart/2005/8/layout/orgChart1"/>
    <dgm:cxn modelId="{E595A477-D749-41B4-986C-174B371E1940}" type="presParOf" srcId="{FA949B67-3DB7-47FA-97C9-4A653E762F22}" destId="{7D64F4A3-0E55-47AC-A59B-9D5A9DC25552}" srcOrd="0" destOrd="0" presId="urn:microsoft.com/office/officeart/2005/8/layout/orgChart1"/>
    <dgm:cxn modelId="{21049214-C18E-4AC7-B4D8-BD7A43EE1897}" type="presOf" srcId="{CF717C8A-B40B-4AFF-BF49-65ABB7DF8190}" destId="{7D64F4A3-0E55-47AC-A59B-9D5A9DC25552}" srcOrd="0" destOrd="0" presId="urn:microsoft.com/office/officeart/2005/8/layout/orgChart1"/>
    <dgm:cxn modelId="{556EF206-7284-4742-960F-8586C570C3AC}" type="presParOf" srcId="{FA949B67-3DB7-47FA-97C9-4A653E762F22}" destId="{5667CB49-EC34-46BC-AD2D-72F3BD95D049}" srcOrd="1" destOrd="0" presId="urn:microsoft.com/office/officeart/2005/8/layout/orgChart1"/>
    <dgm:cxn modelId="{575AB568-0022-471B-8A2B-05736CC91E6E}" type="presOf" srcId="{CF717C8A-B40B-4AFF-BF49-65ABB7DF8190}" destId="{5667CB49-EC34-46BC-AD2D-72F3BD95D049}" srcOrd="0" destOrd="0" presId="urn:microsoft.com/office/officeart/2005/8/layout/orgChart1"/>
    <dgm:cxn modelId="{4703822B-EAC2-4AC5-9B14-B2B4F176E971}" type="presParOf" srcId="{1A917F9A-DDE6-4568-B35C-7FABCEF0A586}" destId="{EB3A10DA-2FA4-4DAD-8341-8078D7F83716}" srcOrd="1" destOrd="5" presId="urn:microsoft.com/office/officeart/2005/8/layout/orgChart1"/>
    <dgm:cxn modelId="{007BA49F-F3E4-47FB-8C24-12AF28FD2D9D}" type="presParOf" srcId="{1A917F9A-DDE6-4568-B35C-7FABCEF0A586}" destId="{B05C5608-85C8-433E-A928-1755312B673B}" srcOrd="2" destOrd="5" presId="urn:microsoft.com/office/officeart/2005/8/layout/orgChart1"/>
    <dgm:cxn modelId="{D0F1A9B2-299B-4FD1-B7F0-848CC9296540}" type="presParOf" srcId="{F728C3E8-5128-4BB6-90CC-A86769ECE335}" destId="{0E819307-1B4E-434E-BA76-D5A4192B066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6A259130-4455-44E0-969B-948D1249687E}">
      <dsp:nvSpPr>
        <dsp:cNvPr id="5" name="Freeform 4"/>
        <dsp:cNvSpPr/>
      </dsp:nvSpPr>
      <dsp:spPr bwMode="white">
        <a:xfrm>
          <a:off x="1188304" y="2086936"/>
          <a:ext cx="2876290" cy="871835"/>
        </a:xfrm>
        <a:custGeom>
          <a:avLst/>
          <a:gdLst/>
          <a:ahLst/>
          <a:cxnLst/>
          <a:pathLst>
            <a:path w="4530" h="1373">
              <a:moveTo>
                <a:pt x="4530" y="0"/>
              </a:moveTo>
              <a:lnTo>
                <a:pt x="4530" y="980"/>
              </a:lnTo>
              <a:lnTo>
                <a:pt x="0" y="980"/>
              </a:lnTo>
              <a:lnTo>
                <a:pt x="0" y="1373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188304" y="2086936"/>
        <a:ext cx="2876290" cy="871835"/>
      </dsp:txXfrm>
    </dsp:sp>
    <dsp:sp modelId="{F492B679-3C8C-4E72-95A8-8B81298826E7}">
      <dsp:nvSpPr>
        <dsp:cNvPr id="8" name="Freeform 7"/>
        <dsp:cNvSpPr/>
      </dsp:nvSpPr>
      <dsp:spPr bwMode="white">
        <a:xfrm>
          <a:off x="4064000" y="2086936"/>
          <a:ext cx="594" cy="871835"/>
        </a:xfrm>
        <a:custGeom>
          <a:avLst/>
          <a:gdLst/>
          <a:ahLst/>
          <a:cxnLst/>
          <a:pathLst>
            <a:path w="1" h="1373">
              <a:moveTo>
                <a:pt x="1" y="0"/>
              </a:moveTo>
              <a:lnTo>
                <a:pt x="1" y="980"/>
              </a:lnTo>
              <a:lnTo>
                <a:pt x="0" y="980"/>
              </a:lnTo>
              <a:lnTo>
                <a:pt x="0" y="1373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064000" y="2086936"/>
        <a:ext cx="594" cy="871835"/>
      </dsp:txXfrm>
    </dsp:sp>
    <dsp:sp modelId="{AB3A8128-6C86-49B7-B5CC-0153888815E5}">
      <dsp:nvSpPr>
        <dsp:cNvPr id="11" name="Freeform 10"/>
        <dsp:cNvSpPr/>
      </dsp:nvSpPr>
      <dsp:spPr bwMode="white">
        <a:xfrm>
          <a:off x="4064594" y="2086936"/>
          <a:ext cx="2875102" cy="871835"/>
        </a:xfrm>
        <a:custGeom>
          <a:avLst/>
          <a:gdLst/>
          <a:ahLst/>
          <a:cxnLst/>
          <a:pathLst>
            <a:path w="4528" h="1373">
              <a:moveTo>
                <a:pt x="0" y="0"/>
              </a:moveTo>
              <a:lnTo>
                <a:pt x="0" y="980"/>
              </a:lnTo>
              <a:lnTo>
                <a:pt x="4528" y="980"/>
              </a:lnTo>
              <a:lnTo>
                <a:pt x="4528" y="1373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4064594" y="2086936"/>
        <a:ext cx="2875102" cy="871835"/>
      </dsp:txXfrm>
    </dsp:sp>
    <dsp:sp modelId="{AE79172D-D441-42BB-84EA-E3D989670DED}">
      <dsp:nvSpPr>
        <dsp:cNvPr id="3" name="Rectangles 2"/>
        <dsp:cNvSpPr/>
      </dsp:nvSpPr>
      <dsp:spPr bwMode="white">
        <a:xfrm>
          <a:off x="1272103" y="898632"/>
          <a:ext cx="5584982" cy="118830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Bernard Bazimya (CEO) </a:t>
          </a:r>
          <a:endParaRPr lang="en-US"/>
        </a:p>
      </dsp:txBody>
      <dsp:txXfrm>
        <a:off x="1272103" y="898632"/>
        <a:ext cx="5584982" cy="1188304"/>
      </dsp:txXfrm>
    </dsp:sp>
    <dsp:sp modelId="{43B7C837-49D6-40CE-BBAB-953D9E4BA7ED}">
      <dsp:nvSpPr>
        <dsp:cNvPr id="6" name="Rectangles 5"/>
        <dsp:cNvSpPr/>
      </dsp:nvSpPr>
      <dsp:spPr bwMode="white">
        <a:xfrm>
          <a:off x="0" y="2958771"/>
          <a:ext cx="2376608" cy="118830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Chantal Elyse(CFO)</a:t>
          </a:r>
          <a:endParaRPr lang="en-US"/>
        </a:p>
      </dsp:txBody>
      <dsp:txXfrm>
        <a:off x="0" y="2958771"/>
        <a:ext cx="2376608" cy="1188304"/>
      </dsp:txXfrm>
    </dsp:sp>
    <dsp:sp modelId="{08A0D1D2-3A20-4D63-8E35-B7C8B6B16D48}">
      <dsp:nvSpPr>
        <dsp:cNvPr id="9" name="Rectangles 8"/>
        <dsp:cNvSpPr/>
      </dsp:nvSpPr>
      <dsp:spPr bwMode="white">
        <a:xfrm>
          <a:off x="2875696" y="2958771"/>
          <a:ext cx="2376608" cy="118830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Taylor Washington(CMO)</a:t>
          </a:r>
          <a:endParaRPr lang="en-US"/>
        </a:p>
      </dsp:txBody>
      <dsp:txXfrm>
        <a:off x="2875696" y="2958771"/>
        <a:ext cx="2376608" cy="1188304"/>
      </dsp:txXfrm>
    </dsp:sp>
    <dsp:sp modelId="{7D64F4A3-0E55-47AC-A59B-9D5A9DC25552}">
      <dsp:nvSpPr>
        <dsp:cNvPr id="12" name="Rectangles 11"/>
        <dsp:cNvSpPr/>
      </dsp:nvSpPr>
      <dsp:spPr bwMode="white">
        <a:xfrm>
          <a:off x="5751392" y="2958771"/>
          <a:ext cx="2376608" cy="118830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970" tIns="13970" rIns="13970" bIns="1397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Ashraf Abdul Muumin (CIO)</a:t>
          </a:r>
          <a:endParaRPr lang="en-US"/>
        </a:p>
      </dsp:txBody>
      <dsp:txXfrm>
        <a:off x="5751392" y="2958771"/>
        <a:ext cx="2376608" cy="1188304"/>
      </dsp:txXfrm>
    </dsp:sp>
    <dsp:sp modelId="{86420519-308D-4A6A-8FEA-6FB2E39BA448}">
      <dsp:nvSpPr>
        <dsp:cNvPr id="4" name="Rectangles 3" hidden="1"/>
        <dsp:cNvSpPr/>
      </dsp:nvSpPr>
      <dsp:spPr>
        <a:xfrm>
          <a:off x="1272103" y="898632"/>
          <a:ext cx="1116996" cy="1188304"/>
        </a:xfrm>
        <a:prstGeom prst="rect">
          <a:avLst/>
        </a:prstGeom>
      </dsp:spPr>
      <dsp:txXfrm>
        <a:off x="1272103" y="898632"/>
        <a:ext cx="1116996" cy="1188304"/>
      </dsp:txXfrm>
    </dsp:sp>
    <dsp:sp modelId="{9A037140-9B69-4B9F-A134-F2F2EB0F2E32}">
      <dsp:nvSpPr>
        <dsp:cNvPr id="7" name="Rectangles 6" hidden="1"/>
        <dsp:cNvSpPr/>
      </dsp:nvSpPr>
      <dsp:spPr>
        <a:xfrm>
          <a:off x="0" y="2958771"/>
          <a:ext cx="475322" cy="1188304"/>
        </a:xfrm>
        <a:prstGeom prst="rect">
          <a:avLst/>
        </a:prstGeom>
      </dsp:spPr>
      <dsp:txXfrm>
        <a:off x="0" y="2958771"/>
        <a:ext cx="475322" cy="1188304"/>
      </dsp:txXfrm>
    </dsp:sp>
    <dsp:sp modelId="{6238C53E-A961-488B-8FBD-6EC13507B069}">
      <dsp:nvSpPr>
        <dsp:cNvPr id="10" name="Rectangles 9" hidden="1"/>
        <dsp:cNvSpPr/>
      </dsp:nvSpPr>
      <dsp:spPr>
        <a:xfrm>
          <a:off x="2875696" y="2958771"/>
          <a:ext cx="475322" cy="1188304"/>
        </a:xfrm>
        <a:prstGeom prst="rect">
          <a:avLst/>
        </a:prstGeom>
      </dsp:spPr>
      <dsp:txXfrm>
        <a:off x="2875696" y="2958771"/>
        <a:ext cx="475322" cy="1188304"/>
      </dsp:txXfrm>
    </dsp:sp>
    <dsp:sp modelId="{5667CB49-EC34-46BC-AD2D-72F3BD95D049}">
      <dsp:nvSpPr>
        <dsp:cNvPr id="13" name="Rectangles 12" hidden="1"/>
        <dsp:cNvSpPr/>
      </dsp:nvSpPr>
      <dsp:spPr>
        <a:xfrm>
          <a:off x="5751392" y="2958771"/>
          <a:ext cx="475322" cy="1188304"/>
        </a:xfrm>
        <a:prstGeom prst="rect">
          <a:avLst/>
        </a:prstGeom>
      </dsp:spPr>
      <dsp:txXfrm>
        <a:off x="5751392" y="2958771"/>
        <a:ext cx="475322" cy="11883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030" y="0"/>
            <a:ext cx="8940800" cy="1164590"/>
          </a:xfrm>
        </p:spPr>
        <p:txBody>
          <a:bodyPr/>
          <a:lstStyle/>
          <a:p>
            <a:pPr algn="ctr"/>
            <a:r>
              <a:rPr sz="2400" b="1"/>
              <a:t>UHIIS</a:t>
            </a:r>
            <a:endParaRPr sz="24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95" y="1174750"/>
            <a:ext cx="8941435" cy="318960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b="1">
                <a:sym typeface="+mn-ea"/>
              </a:rPr>
              <a:t>Universal Health Identity Information System </a:t>
            </a:r>
            <a:endParaRPr b="1">
              <a:sym typeface="+mn-ea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t>Transforming Health Record Accessibility Globally</a:t>
            </a:r>
          </a:p>
          <a:p>
            <a:pPr marL="0" indent="0" algn="ctr">
              <a:buNone/>
            </a:pP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2700020" y="4374515"/>
            <a:ext cx="3982720" cy="638175"/>
          </a:xfrm>
          <a:prstGeom prst="rect">
            <a:avLst/>
          </a:prstGeom>
          <a:noFill/>
          <a:ln w="9525">
            <a:noFill/>
          </a:ln>
        </p:spPr>
        <p:txBody>
          <a:bodyPr>
            <a:normAutofit fontScale="9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400"/>
              <a:t>Presenter: </a:t>
            </a:r>
            <a:r>
              <a:rPr sz="2400" b="1"/>
              <a:t>Bernard Bazimya</a:t>
            </a:r>
            <a:endParaRPr sz="2400" b="1"/>
          </a:p>
          <a:p>
            <a:pPr marL="0" indent="0">
              <a:buNone/>
            </a:pPr>
            <a:endParaRPr lang="en-US" sz="2400" b="1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112395" y="5542280"/>
            <a:ext cx="4568825" cy="813435"/>
          </a:xfrm>
          <a:prstGeom prst="rect">
            <a:avLst/>
          </a:prstGeom>
          <a:noFill/>
          <a:ln w="9525">
            <a:noFill/>
          </a:ln>
        </p:spPr>
        <p:txBody>
          <a:bodyPr>
            <a:normAutofit fontScale="7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Guided by</a:t>
            </a:r>
            <a:r>
              <a:rPr lang="en-US" b="1"/>
              <a:t> Prof. </a:t>
            </a:r>
            <a:r>
              <a:rPr lang="en-US" altLang="en-US" b="1"/>
              <a:t>Gurram Gopal</a:t>
            </a:r>
            <a:endParaRPr lang="en-US" altLang="en-US" b="1"/>
          </a:p>
          <a:p>
            <a:endParaRPr lang="en-US" b="1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5701030" y="5382895"/>
            <a:ext cx="3274695" cy="881380"/>
          </a:xfrm>
          <a:prstGeom prst="rect">
            <a:avLst/>
          </a:prstGeom>
          <a:noFill/>
          <a:ln w="9525">
            <a:noFill/>
          </a:ln>
        </p:spPr>
        <p:txBody>
          <a:bodyPr>
            <a:normAutofit fontScale="7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In collaboration with  </a:t>
            </a:r>
            <a:endParaRPr lang="en-US"/>
          </a:p>
          <a:p>
            <a:pPr marL="0" indent="0">
              <a:buNone/>
            </a:pPr>
            <a:r>
              <a:rPr lang="en-US" b="1"/>
              <a:t>RN. Marley Hartman</a:t>
            </a:r>
            <a:endParaRPr lang="en-US" b="1"/>
          </a:p>
          <a:p>
            <a:pPr marL="0" indent="0">
              <a:buNone/>
            </a:pPr>
            <a:endParaRPr 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Main</a:t>
            </a:r>
            <a:r>
              <a:t> Problem</a:t>
            </a:r>
            <a:r>
              <a:rPr lang="en-US"/>
              <a:t>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939800"/>
            <a:ext cx="8737600" cy="53625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/>
              <a:t>People</a:t>
            </a:r>
            <a:r>
              <a:rPr sz="2400" b="1"/>
              <a:t> lack access to </a:t>
            </a:r>
            <a:r>
              <a:rPr lang="en-US" sz="2400" b="1"/>
              <a:t>their health </a:t>
            </a:r>
            <a:r>
              <a:rPr sz="2400" b="1"/>
              <a:t>records</a:t>
            </a:r>
            <a:r>
              <a:rPr lang="en-US" sz="2400" b="1"/>
              <a:t> especially when relocating: </a:t>
            </a:r>
            <a:r>
              <a:rPr lang="en-US" altLang="en-US" sz="1800"/>
              <a:t>Students, workers, and travelers cannot easily access and transfer their medical history across providers or borders.</a:t>
            </a:r>
            <a:endParaRPr lang="en-US" altLang="en-US" sz="180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/>
              <a:t>Fragmented and Incompatible Health Systems: </a:t>
            </a:r>
            <a:r>
              <a:rPr lang="en-US" altLang="en-US" sz="1800"/>
              <a:t>S</a:t>
            </a:r>
            <a:r>
              <a:rPr lang="en-US" altLang="en-US" sz="1800">
                <a:sym typeface="+mn-ea"/>
              </a:rPr>
              <a:t>cattered </a:t>
            </a:r>
            <a:r>
              <a:rPr lang="en-US" altLang="en-US" sz="1800"/>
              <a:t>records across different systems, hospitals and clinics and places.</a:t>
            </a:r>
            <a:endParaRPr lang="en-US" altLang="en-US" sz="180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/>
              <a:t>Delays and Inefficiencies in Healthcare Delivery: </a:t>
            </a:r>
            <a:r>
              <a:rPr lang="en-US" altLang="en-US" sz="1800"/>
              <a:t>Lack of real time access leads to repeat tests, slower diagnosis, increased costs ..</a:t>
            </a:r>
            <a:endParaRPr lang="en-US" altLang="en-US" sz="240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b="1"/>
              <a:t>Institutions struggle to manage health records and respond to emergencies in real time: </a:t>
            </a:r>
            <a:r>
              <a:rPr lang="en-US" altLang="en-US" sz="1800"/>
              <a:t>Governments, universities, and employers,NGOs..</a:t>
            </a:r>
            <a:endParaRPr lang="en-US" altLang="en-US" sz="2400"/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Our Solution - UHIIS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" y="1068070"/>
            <a:ext cx="8825865" cy="553847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000" b="1"/>
              <a:t>Universally Access to Health Records Anytime, Anywhere: </a:t>
            </a:r>
            <a:endParaRPr lang="en-US" altLang="en-US" sz="2000" b="1"/>
          </a:p>
          <a:p>
            <a:pPr marL="457200" lvl="1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575"/>
              <a:t>Individuals can securely access and share their complete medical history across states, countries, and healthcare systems, eliminating the risk of losing records when relocating.</a:t>
            </a:r>
            <a:endParaRPr lang="en-US" altLang="en-US" sz="1575"/>
          </a:p>
          <a:p>
            <a:pPr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000" b="1"/>
              <a:t>Real-Time Interoperability Across Healthcare Providers:</a:t>
            </a:r>
            <a:r>
              <a:rPr lang="en-US" altLang="en-US" sz="2000"/>
              <a:t> </a:t>
            </a:r>
            <a:endParaRPr lang="en-US" altLang="en-US" sz="2000"/>
          </a:p>
          <a:p>
            <a:pPr marL="457200" lvl="1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750"/>
              <a:t>UHIIS integrates with interoperability standards (e.g. HL7 FHIR) for data sharing across different systems.</a:t>
            </a:r>
            <a:endParaRPr lang="en-US" altLang="en-US" sz="1750"/>
          </a:p>
          <a:p>
            <a:pPr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000" b="1"/>
              <a:t>Emergency-Ready Health Record Access:</a:t>
            </a:r>
            <a:r>
              <a:rPr lang="en-US" altLang="en-US" sz="2000"/>
              <a:t> </a:t>
            </a:r>
            <a:endParaRPr lang="en-US" altLang="en-US" sz="2000"/>
          </a:p>
          <a:p>
            <a:pPr marL="457200" lvl="1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750"/>
              <a:t>Quickly access to critical patient information (</a:t>
            </a:r>
            <a:r>
              <a:rPr lang="en-US" altLang="en-US" sz="1750">
                <a:sym typeface="+mn-ea"/>
              </a:rPr>
              <a:t>e.g. </a:t>
            </a:r>
            <a:r>
              <a:rPr lang="en-US" altLang="en-US" sz="1750"/>
              <a:t>pandemics, allergies, medications, chronic conditions) </a:t>
            </a:r>
            <a:endParaRPr lang="en-US" altLang="en-US" sz="1750"/>
          </a:p>
          <a:p>
            <a:pPr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000" b="1"/>
              <a:t>Support for Institutions and Public Health to manage health records: </a:t>
            </a:r>
            <a:endParaRPr lang="en-US" altLang="en-US" sz="2000" b="1"/>
          </a:p>
          <a:p>
            <a:pPr marL="457200" lvl="1"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en-US" sz="1750"/>
              <a:t>Universities, employers, governments and others can efficiently monitor health data in real time</a:t>
            </a:r>
            <a:endParaRPr lang="en-US" altLang="en-US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560" y="0"/>
            <a:ext cx="8555990" cy="11430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>
                <a:sym typeface="+mn-ea"/>
              </a:rPr>
              <a:t>Segments/Beachhead market/customer</a:t>
            </a:r>
            <a:endParaRPr lang="en-US" dirty="0">
              <a:sym typeface="+mn-ea"/>
            </a:endParaRPr>
          </a:p>
        </p:txBody>
      </p:sp>
      <p:sp>
        <p:nvSpPr>
          <p:cNvPr id="7" name="Content Placeholder 6"/>
          <p:cNvSpPr/>
          <p:nvPr>
            <p:ph idx="1"/>
          </p:nvPr>
        </p:nvSpPr>
        <p:spPr>
          <a:xfrm>
            <a:off x="95885" y="1256030"/>
            <a:ext cx="8879205" cy="5394960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ü"/>
            </a:pPr>
            <a:r>
              <a:rPr lang="en-US" altLang="en-US" sz="3600" b="1">
                <a:solidFill>
                  <a:srgbClr val="00B050"/>
                </a:solidFill>
              </a:rPr>
              <a:t>Healthcare Providers:</a:t>
            </a:r>
            <a:r>
              <a:rPr lang="en-US" altLang="en-US" sz="2400" b="1">
                <a:solidFill>
                  <a:srgbClr val="00B050"/>
                </a:solidFill>
              </a:rPr>
              <a:t>(Hospitals &amp; Clinics) BH</a:t>
            </a:r>
            <a:endParaRPr lang="en-US" altLang="en-US" sz="2400" b="1">
              <a:solidFill>
                <a:srgbClr val="00B050"/>
              </a:solidFill>
            </a:endParaRPr>
          </a:p>
          <a:p>
            <a:r>
              <a:rPr lang="en-US" altLang="en-US"/>
              <a:t>Individual Users:</a:t>
            </a:r>
            <a:r>
              <a:rPr lang="en-US" altLang="en-US" sz="2000"/>
              <a:t> (Students, Workers, Travelers)</a:t>
            </a:r>
            <a:endParaRPr lang="en-US" altLang="en-US" sz="2000"/>
          </a:p>
          <a:p>
            <a:r>
              <a:rPr lang="en-US" altLang="en-US"/>
              <a:t>Employers and Corporates </a:t>
            </a:r>
            <a:r>
              <a:rPr lang="en-US" altLang="en-US" sz="2000"/>
              <a:t>(Companies)</a:t>
            </a:r>
            <a:endParaRPr lang="en-US" altLang="en-US" sz="2000"/>
          </a:p>
          <a:p>
            <a:r>
              <a:rPr lang="en-US" altLang="en-US"/>
              <a:t>Insurance Companies</a:t>
            </a:r>
            <a:endParaRPr lang="en-US" altLang="en-US"/>
          </a:p>
          <a:p>
            <a:r>
              <a:rPr lang="en-US" altLang="en-US"/>
              <a:t>Governments and Public Health Departments</a:t>
            </a:r>
            <a:endParaRPr lang="en-US" altLang="en-US"/>
          </a:p>
          <a:p>
            <a:r>
              <a:rPr lang="en-US" altLang="en-US"/>
              <a:t>International Organizations, Colleges and Universities</a:t>
            </a:r>
            <a:endParaRPr lang="en-US" altLang="en-US"/>
          </a:p>
          <a:p>
            <a:pPr marL="0" indent="0">
              <a:buNone/>
            </a:pPr>
            <a:r>
              <a:rPr lang="en-US" altLang="en-US" sz="2800"/>
              <a:t>Total TAM across all evaluated markets segments to approximately $683.4 million annually</a:t>
            </a:r>
            <a:endParaRPr lang="en-US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56945"/>
          </a:xfrm>
        </p:spPr>
        <p:txBody>
          <a:bodyPr/>
          <a:lstStyle/>
          <a:p>
            <a:pPr algn="ctr"/>
            <a:r>
              <a:rPr lang="en-US" b="1">
                <a:sym typeface="+mn-ea"/>
              </a:rPr>
              <a:t>Market size (segment + TAM)</a:t>
            </a:r>
            <a:endParaRPr lang="en-US" b="1">
              <a:sym typeface="+mn-ea"/>
            </a:endParaRPr>
          </a:p>
        </p:txBody>
      </p:sp>
      <p:pic>
        <p:nvPicPr>
          <p:cNvPr id="5" name="Content Placeholder 4" descr="T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985" y="816610"/>
            <a:ext cx="5518150" cy="60413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ym typeface="+mn-ea"/>
              </a:rPr>
              <a:t>Business Model </a:t>
            </a:r>
            <a:endParaRPr 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4725"/>
            <a:ext cx="8687435" cy="5064125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en-US" sz="3600" b="1"/>
              <a:t> Primary Revenue Streams</a:t>
            </a:r>
            <a:endParaRPr lang="en-US" altLang="en-US" sz="3600" b="1"/>
          </a:p>
          <a:p>
            <a:pPr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000" b="1"/>
              <a:t>Healthcare Providers:  Subscription Fees: </a:t>
            </a:r>
            <a:r>
              <a:rPr lang="en-US" altLang="en-US" sz="2000"/>
              <a:t>$200/month per provider</a:t>
            </a:r>
            <a:endParaRPr lang="en-US" altLang="en-US" sz="2000"/>
          </a:p>
          <a:p>
            <a:pPr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000" b="1"/>
              <a:t>Individual Users Subscription Fees: </a:t>
            </a:r>
            <a:r>
              <a:rPr lang="en-US" altLang="en-US" sz="2000"/>
              <a:t>$2–5/month per individual (students, workers, travelers)</a:t>
            </a:r>
            <a:endParaRPr lang="en-US" altLang="en-US" sz="2000"/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3600" b="1"/>
              <a:t>2.  </a:t>
            </a:r>
            <a:r>
              <a:rPr lang="en-US" altLang="en-US" sz="2800" b="1"/>
              <a:t>Secondary Revenue Streams (</a:t>
            </a:r>
            <a:r>
              <a:rPr lang="en-US" altLang="en-US" sz="1800" b="1"/>
              <a:t>Expansion Options)</a:t>
            </a:r>
            <a:endParaRPr lang="en-US" altLang="en-US" sz="1800" b="1"/>
          </a:p>
          <a:p>
            <a:pPr algn="l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en-US" altLang="en-US" sz="2000" b="1"/>
              <a:t>Insurance companies, large hospitals, and universities:  </a:t>
            </a:r>
            <a:r>
              <a:rPr lang="en-US" altLang="en-US" sz="2000" b="1">
                <a:sym typeface="+mn-ea"/>
              </a:rPr>
              <a:t>Subscription Fees: </a:t>
            </a:r>
            <a:r>
              <a:rPr lang="en-US" altLang="en-US" sz="2000">
                <a:sym typeface="+mn-ea"/>
              </a:rPr>
              <a:t>$200/month </a:t>
            </a:r>
            <a:endParaRPr lang="en-US" altLang="en-US" sz="2000"/>
          </a:p>
          <a:p>
            <a:pPr algn="l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en-US" altLang="en-US" sz="2000" b="1"/>
              <a:t>Governments public health entities: </a:t>
            </a:r>
            <a:r>
              <a:rPr lang="en-US" altLang="en-US" sz="2000" b="1">
                <a:sym typeface="+mn-ea"/>
              </a:rPr>
              <a:t>Subscription Fees: </a:t>
            </a:r>
            <a:r>
              <a:rPr lang="en-US" altLang="en-US" sz="2000">
                <a:sym typeface="+mn-ea"/>
              </a:rPr>
              <a:t>$200/month</a:t>
            </a:r>
            <a:endParaRPr lang="en-US" altLang="en-US" sz="20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 typeface="Wingdings" panose="05000000000000000000" charset="0"/>
              <a:buChar char="ü"/>
            </a:pPr>
            <a:r>
              <a:rPr lang="en-US" altLang="en-US" sz="2000" b="1"/>
              <a:t>Freemium Option (for The early bird catches the worm/for data aquisition )</a:t>
            </a:r>
            <a:endParaRPr lang="en-US" altLang="en-US" sz="2000" b="1"/>
          </a:p>
          <a:p>
            <a:pPr marL="0" indent="0">
              <a:lnSpc>
                <a:spcPct val="150000"/>
              </a:lnSpc>
              <a:buNone/>
            </a:pPr>
            <a:endParaRPr lang="en-US" altLang="en-US" sz="2000"/>
          </a:p>
          <a:p>
            <a:pPr marL="0" indent="0">
              <a:lnSpc>
                <a:spcPct val="150000"/>
              </a:lnSpc>
              <a:buNone/>
            </a:pPr>
            <a:endParaRPr lang="en-US" altLang="en-US" sz="1000"/>
          </a:p>
          <a:p>
            <a:pPr marL="0" indent="0">
              <a:buNone/>
            </a:pPr>
            <a:endParaRPr lang="en-US" alt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ym typeface="+mn-ea"/>
              </a:rPr>
              <a:t>Pricing</a:t>
            </a:r>
            <a:endParaRPr lang="en-US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29685"/>
            <a:ext cx="8229600" cy="2296795"/>
          </a:xfrm>
        </p:spPr>
        <p:txBody>
          <a:bodyPr>
            <a:normAutofit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>
                <a:solidFill>
                  <a:srgbClr val="FF0000"/>
                </a:solidFill>
              </a:rPr>
              <a:t>Competition and what are their prices:</a:t>
            </a:r>
            <a:endParaRPr lang="en-US" altLang="en-US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/>
              <a:t> Epic Systems, Cerner, SchoolDoc : average $390–$500/month/site.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71450" y="1212850"/>
            <a:ext cx="8900795" cy="2618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800"/>
              <a:t>Based on our analysis, what is the price range of:</a:t>
            </a:r>
            <a:endParaRPr lang="en-US" altLang="en-US" sz="28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/>
              <a:t> $24–$30/year for individual user</a:t>
            </a:r>
            <a:endParaRPr lang="en-US" altLang="en-US" sz="320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/>
              <a:t>$150–$200/month for institutional</a:t>
            </a:r>
            <a:endParaRPr lang="en-US" altLang="en-US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ym typeface="+mn-ea"/>
              </a:rPr>
              <a:t>Competitive Moat / Differentiator</a:t>
            </a:r>
            <a:endParaRPr lang="en-US">
              <a:sym typeface="+mn-ea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161290" y="2486660"/>
            <a:ext cx="8641080" cy="275082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52413" y="4297363"/>
            <a:ext cx="5080000" cy="635000"/>
          </a:xfrm>
          <a:prstGeom prst="rect">
            <a:avLst/>
          </a:prstGeom>
        </p:spPr>
        <p:txBody>
          <a:bodyPr/>
          <a:p>
            <a:endParaRPr sz="1600"/>
          </a:p>
        </p:txBody>
      </p:sp>
      <p:sp>
        <p:nvSpPr>
          <p:cNvPr id="9" name="Text Box 8"/>
          <p:cNvSpPr txBox="1"/>
          <p:nvPr/>
        </p:nvSpPr>
        <p:spPr>
          <a:xfrm>
            <a:off x="340360" y="1417955"/>
            <a:ext cx="8803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 b="1"/>
              <a:t>Comparison of our product features to others</a:t>
            </a:r>
            <a:r>
              <a:rPr lang="en-US" alt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ym typeface="+mn-ea"/>
              </a:rPr>
              <a:t>Competitive Moat / Differentiator</a:t>
            </a:r>
            <a:endParaRPr lang="en-US"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52413" y="4297363"/>
            <a:ext cx="5080000" cy="635000"/>
          </a:xfrm>
          <a:prstGeom prst="rect">
            <a:avLst/>
          </a:prstGeom>
        </p:spPr>
        <p:txBody>
          <a:bodyPr/>
          <a:p>
            <a:endParaRPr sz="1600"/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524510" y="1111885"/>
            <a:ext cx="7770495" cy="47859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15" y="190500"/>
            <a:ext cx="8229600" cy="582613"/>
          </a:xfrm>
        </p:spPr>
        <p:txBody>
          <a:bodyPr/>
          <a:lstStyle/>
          <a:p>
            <a:pPr algn="ctr"/>
            <a:r>
              <a:rPr lang="en-US"/>
              <a:t>Product  Design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-1323975" y="14186535"/>
            <a:ext cx="2096135" cy="231140"/>
          </a:xfrm>
          <a:prstGeom prst="rect">
            <a:avLst/>
          </a:prstGeom>
        </p:spPr>
        <p:txBody>
          <a:bodyPr>
            <a:noAutofit/>
          </a:bodyPr>
          <a:p>
            <a:pPr marL="0" indent="0" algn="l" fontAlgn="base">
              <a:lnSpc>
                <a:spcPts val="114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0" i="0">
                <a:solidFill>
                  <a:sysClr val="windowText" lastClr="000000"/>
                </a:solidFill>
                <a:latin typeface="Calibri" panose="020F0502020204030204"/>
              </a:rPr>
              <a:t> </a:t>
            </a:r>
            <a:endParaRPr lang="en-US" sz="1600" b="0" i="0">
              <a:solidFill>
                <a:sysClr val="windowText" lastClr="000000"/>
              </a:solidFill>
              <a:latin typeface="Calibri" panose="020F0502020204030204"/>
            </a:endParaRPr>
          </a:p>
          <a:p>
            <a:pPr marL="0" indent="0" algn="l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0" i="0">
                <a:solidFill>
                  <a:sysClr val="windowText" lastClr="000000"/>
                </a:solidFill>
                <a:latin typeface="Calibri" panose="020F0502020204030204"/>
              </a:rPr>
              <a:t> </a:t>
            </a:r>
            <a:endParaRPr lang="en-US" sz="1600" b="0" i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2032000" y="11783695"/>
            <a:ext cx="5080000" cy="606425"/>
          </a:xfrm>
          <a:prstGeom prst="rect">
            <a:avLst/>
          </a:prstGeom>
        </p:spPr>
        <p:txBody>
          <a:bodyPr>
            <a:spAutoFit/>
          </a:bodyPr>
          <a:p>
            <a:endParaRPr sz="2400"/>
          </a:p>
          <a:p>
            <a:pPr marL="0" indent="0" algn="l" fontAlgn="base">
              <a:lnSpc>
                <a:spcPts val="114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0" i="0">
                <a:solidFill>
                  <a:sysClr val="windowText" lastClr="000000"/>
                </a:solidFill>
                <a:latin typeface="Calibri" panose="020F0502020204030204"/>
              </a:rPr>
              <a:t> </a:t>
            </a:r>
            <a:endParaRPr lang="en-US" sz="1600" b="0" i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285115" y="1661795"/>
            <a:ext cx="8484235" cy="353949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59130" y="4796790"/>
            <a:ext cx="1342390" cy="371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000" b="1"/>
              <a:t>B2C</a:t>
            </a:r>
            <a:endParaRPr lang="en-US" sz="2800" b="1"/>
          </a:p>
        </p:txBody>
      </p:sp>
      <p:sp>
        <p:nvSpPr>
          <p:cNvPr id="5" name="Text Box 4"/>
          <p:cNvSpPr txBox="1"/>
          <p:nvPr/>
        </p:nvSpPr>
        <p:spPr>
          <a:xfrm>
            <a:off x="659130" y="1717675"/>
            <a:ext cx="1628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/>
              <a:t>B2B</a:t>
            </a:r>
            <a:endParaRPr lang="en-US" sz="4000" b="1"/>
          </a:p>
        </p:txBody>
      </p:sp>
      <p:sp>
        <p:nvSpPr>
          <p:cNvPr id="6" name="Text Box 5"/>
          <p:cNvSpPr txBox="1"/>
          <p:nvPr/>
        </p:nvSpPr>
        <p:spPr>
          <a:xfrm>
            <a:off x="3783965" y="129349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Two sided Market</a:t>
            </a:r>
            <a:endParaRPr 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15" y="190500"/>
            <a:ext cx="8229600" cy="582613"/>
          </a:xfrm>
        </p:spPr>
        <p:txBody>
          <a:bodyPr/>
          <a:lstStyle/>
          <a:p>
            <a:pPr algn="ctr"/>
            <a:r>
              <a:rPr lang="en-US"/>
              <a:t>Product High Level Design</a:t>
            </a:r>
            <a:endParaRPr lang="en-US"/>
          </a:p>
        </p:txBody>
      </p:sp>
      <p:pic>
        <p:nvPicPr>
          <p:cNvPr id="12" name="Picture 11"/>
          <p:cNvPicPr/>
          <p:nvPr/>
        </p:nvPicPr>
        <p:blipFill>
          <a:blip r:embed="rId1"/>
          <a:stretch>
            <a:fillRect/>
          </a:stretch>
        </p:blipFill>
        <p:spPr>
          <a:xfrm>
            <a:off x="6107430" y="1109980"/>
            <a:ext cx="1735455" cy="335661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-1323975" y="14186535"/>
            <a:ext cx="2096135" cy="231140"/>
          </a:xfrm>
          <a:prstGeom prst="rect">
            <a:avLst/>
          </a:prstGeom>
        </p:spPr>
        <p:txBody>
          <a:bodyPr>
            <a:noAutofit/>
          </a:bodyPr>
          <a:p>
            <a:pPr marL="0" indent="0" algn="l" fontAlgn="base">
              <a:lnSpc>
                <a:spcPts val="114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0" i="0">
                <a:solidFill>
                  <a:sysClr val="windowText" lastClr="000000"/>
                </a:solidFill>
                <a:latin typeface="Calibri" panose="020F0502020204030204"/>
              </a:rPr>
              <a:t> </a:t>
            </a:r>
            <a:endParaRPr lang="en-US" sz="1600" b="0" i="0">
              <a:solidFill>
                <a:sysClr val="windowText" lastClr="000000"/>
              </a:solidFill>
              <a:latin typeface="Calibri" panose="020F0502020204030204"/>
            </a:endParaRPr>
          </a:p>
          <a:p>
            <a:pPr marL="0" indent="0" algn="l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0" i="0">
                <a:solidFill>
                  <a:sysClr val="windowText" lastClr="000000"/>
                </a:solidFill>
                <a:latin typeface="Calibri" panose="020F0502020204030204"/>
              </a:rPr>
              <a:t> </a:t>
            </a:r>
            <a:endParaRPr lang="en-US" sz="1600" b="0" i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2"/>
          <a:stretch>
            <a:fillRect/>
          </a:stretch>
        </p:blipFill>
        <p:spPr>
          <a:xfrm>
            <a:off x="354330" y="1270000"/>
            <a:ext cx="5099685" cy="3229610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3"/>
          <a:stretch>
            <a:fillRect/>
          </a:stretch>
        </p:blipFill>
        <p:spPr>
          <a:xfrm>
            <a:off x="131445" y="4083050"/>
            <a:ext cx="1934845" cy="261493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4"/>
          <a:stretch>
            <a:fillRect/>
          </a:stretch>
        </p:blipFill>
        <p:spPr>
          <a:xfrm>
            <a:off x="4001135" y="4324985"/>
            <a:ext cx="2106295" cy="2351405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2032000" y="11783695"/>
            <a:ext cx="5080000" cy="606425"/>
          </a:xfrm>
          <a:prstGeom prst="rect">
            <a:avLst/>
          </a:prstGeom>
        </p:spPr>
        <p:txBody>
          <a:bodyPr>
            <a:spAutoFit/>
          </a:bodyPr>
          <a:p>
            <a:endParaRPr sz="2400"/>
          </a:p>
          <a:p>
            <a:pPr marL="0" indent="0" algn="l" fontAlgn="base">
              <a:lnSpc>
                <a:spcPts val="114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0" i="0">
                <a:solidFill>
                  <a:sysClr val="windowText" lastClr="000000"/>
                </a:solidFill>
                <a:latin typeface="Calibri" panose="020F0502020204030204"/>
              </a:rPr>
              <a:t> </a:t>
            </a:r>
            <a:endParaRPr lang="en-US" sz="1600" b="0" i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15" y="190500"/>
            <a:ext cx="8229600" cy="582613"/>
          </a:xfrm>
        </p:spPr>
        <p:txBody>
          <a:bodyPr/>
          <a:lstStyle/>
          <a:p>
            <a:pPr algn="ctr"/>
            <a:r>
              <a:rPr lang="en-US"/>
              <a:t>Funding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-1323975" y="14186535"/>
            <a:ext cx="2096135" cy="231140"/>
          </a:xfrm>
          <a:prstGeom prst="rect">
            <a:avLst/>
          </a:prstGeom>
        </p:spPr>
        <p:txBody>
          <a:bodyPr>
            <a:noAutofit/>
          </a:bodyPr>
          <a:p>
            <a:pPr marL="0" indent="0" algn="l" fontAlgn="base">
              <a:lnSpc>
                <a:spcPts val="114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0" i="0">
                <a:solidFill>
                  <a:sysClr val="windowText" lastClr="000000"/>
                </a:solidFill>
                <a:latin typeface="Calibri" panose="020F0502020204030204"/>
              </a:rPr>
              <a:t> </a:t>
            </a:r>
            <a:endParaRPr lang="en-US" sz="1600" b="0" i="0">
              <a:solidFill>
                <a:sysClr val="windowText" lastClr="000000"/>
              </a:solidFill>
              <a:latin typeface="Calibri" panose="020F0502020204030204"/>
            </a:endParaRPr>
          </a:p>
          <a:p>
            <a:pPr marL="0" indent="0" algn="l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0" i="0">
                <a:solidFill>
                  <a:sysClr val="windowText" lastClr="000000"/>
                </a:solidFill>
                <a:latin typeface="Calibri" panose="020F0502020204030204"/>
              </a:rPr>
              <a:t> </a:t>
            </a:r>
            <a:endParaRPr lang="en-US" sz="1600" b="0" i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2032000" y="11783695"/>
            <a:ext cx="5080000" cy="606425"/>
          </a:xfrm>
          <a:prstGeom prst="rect">
            <a:avLst/>
          </a:prstGeom>
        </p:spPr>
        <p:txBody>
          <a:bodyPr>
            <a:spAutoFit/>
          </a:bodyPr>
          <a:p>
            <a:endParaRPr sz="2400"/>
          </a:p>
          <a:p>
            <a:pPr marL="0" indent="0" algn="l" fontAlgn="base">
              <a:lnSpc>
                <a:spcPts val="114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0" i="0">
                <a:solidFill>
                  <a:sysClr val="windowText" lastClr="000000"/>
                </a:solidFill>
                <a:latin typeface="Calibri" panose="020F0502020204030204"/>
              </a:rPr>
              <a:t> </a:t>
            </a:r>
            <a:endParaRPr lang="en-US" sz="1600" b="0" i="0">
              <a:solidFill>
                <a:sysClr val="windowText" lastClr="000000"/>
              </a:solidFill>
              <a:latin typeface="Calibri" panose="020F050202020403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56845" y="1054735"/>
            <a:ext cx="2924810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Target fund to be raised: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3216910" y="1054735"/>
            <a:ext cx="4762500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solidFill>
                  <a:srgbClr val="00B050"/>
                </a:solidFill>
              </a:rPr>
              <a:t>$500,000 USD (Initial Seed Funding)</a:t>
            </a:r>
            <a:endParaRPr lang="en-US" altLang="en-US" sz="2000" b="1">
              <a:solidFill>
                <a:srgbClr val="00B05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67005" y="5485130"/>
            <a:ext cx="8717915" cy="541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solidFill>
                  <a:srgbClr val="00B050"/>
                </a:solidFill>
              </a:rPr>
              <a:t>After successful pilot scaling/V1,  ($2M–$5M) will be raised for V2</a:t>
            </a:r>
            <a:endParaRPr lang="en-US" altLang="en-US" sz="2000" b="1">
              <a:solidFill>
                <a:srgbClr val="00B050"/>
              </a:solidFill>
            </a:endParaRPr>
          </a:p>
          <a:p>
            <a:endParaRPr lang="en-US" altLang="en-US" sz="2000"/>
          </a:p>
          <a:p>
            <a:endParaRPr lang="en-US" altLang="en-US" sz="2000"/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186690" y="1490345"/>
          <a:ext cx="8898890" cy="3828415"/>
        </p:xfrm>
        <a:graphic>
          <a:graphicData uri="http://schemas.openxmlformats.org/drawingml/2006/table">
            <a:tbl>
              <a:tblPr/>
              <a:tblGrid>
                <a:gridCol w="2342515"/>
                <a:gridCol w="5164455"/>
                <a:gridCol w="1391920"/>
              </a:tblGrid>
              <a:tr h="487680">
                <a:tc>
                  <a:txBody>
                    <a:bodyPr/>
                    <a:p>
                      <a:pPr marL="6858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Category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Description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Estimated 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68580" indent="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Amount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647065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UHIIS V1 Development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Build a secure, scalable 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(Web + Mobile Platform, Database, API)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$150,000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487680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Security &amp; Compliance Setup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HIPAA &amp; GDPR compliance audits, security certifications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$50,000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020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 Pilot Launch and Early  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 Customer Acquisition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Onboard first 50 healthcare providers and some individuals 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(Chicago)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$100,000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487680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Marketing &amp; Branding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Website, professional branding, digital marketing, initial sales team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$75,000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5610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Operations and Salaries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Small team (Engineers,marketing/sales, support)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$100,000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</a:tr>
              <a:tr h="487680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Legal and Administrative Costs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Incorporation, contracts, insurance, IP protection, initial taxes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$25,000</a:t>
                      </a: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F81B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016115" cy="552450"/>
          </a:xfrm>
        </p:spPr>
        <p:txBody>
          <a:bodyPr/>
          <a:lstStyle/>
          <a:p>
            <a:pPr algn="ctr"/>
            <a:r>
              <a:rPr lang="en-US"/>
              <a:t>Board of Directors</a:t>
            </a:r>
            <a:endParaRPr lang="en-US"/>
          </a:p>
        </p:txBody>
      </p:sp>
      <p:graphicFrame>
        <p:nvGraphicFramePr>
          <p:cNvPr id="5" name="Diagram 4"/>
          <p:cNvGraphicFramePr/>
          <p:nvPr/>
        </p:nvGraphicFramePr>
        <p:xfrm>
          <a:off x="508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491490" y="5747385"/>
            <a:ext cx="7470775" cy="688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/>
              <a:t>Name of Business: </a:t>
            </a:r>
            <a:r>
              <a:rPr lang="en-US" sz="2800" b="1"/>
              <a:t>Universal Health ID</a:t>
            </a:r>
            <a:endParaRPr lang="en-US" sz="28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Closing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"UHIIS: Empowering Health Access Everywhere.</a:t>
            </a:r>
          </a:p>
          <a:p>
            <a:r>
              <a:t>Join us to revolutionize global healthcare access."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Q/A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endParaRPr lang="en-US" sz="4000"/>
          </a:p>
          <a:p>
            <a:pPr marL="0" indent="0" algn="ctr">
              <a:buNone/>
            </a:pPr>
            <a:r>
              <a:rPr lang="en-US" sz="4000"/>
              <a:t>Thank you!</a:t>
            </a:r>
            <a:endParaRPr lang="en-US" sz="4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00*297"/>
  <p:tag name="TABLE_ENDDRAG_RECT" val="14*121*700*297"/>
</p:tagLst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3714</Words>
  <Application>WPS Slides</Application>
  <PresentationFormat>On-screen Show (4:3)</PresentationFormat>
  <Paragraphs>170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Calibri</vt:lpstr>
      <vt:lpstr>Times New Roman</vt:lpstr>
      <vt:lpstr>Microsoft YaHei</vt:lpstr>
      <vt:lpstr>Arial Unicode MS</vt:lpstr>
      <vt:lpstr>Communications and Dialogues</vt:lpstr>
      <vt:lpstr>UHIIS</vt:lpstr>
      <vt:lpstr>Main Problems</vt:lpstr>
      <vt:lpstr>Our Solution - UHIIS</vt:lpstr>
      <vt:lpstr>Segments/Beachhead market/customer</vt:lpstr>
      <vt:lpstr>Market size (segment + TAM)</vt:lpstr>
      <vt:lpstr>Business Model </vt:lpstr>
      <vt:lpstr>Pricing</vt:lpstr>
      <vt:lpstr>Competitive Moat / Differentiator</vt:lpstr>
      <vt:lpstr>Competitive Moat / Differentiator</vt:lpstr>
      <vt:lpstr>Product  Design</vt:lpstr>
      <vt:lpstr>Product High Level Design</vt:lpstr>
      <vt:lpstr>Funding</vt:lpstr>
      <vt:lpstr>Board of Directors</vt:lpstr>
      <vt:lpstr>Closing Statement</vt:lpstr>
      <vt:lpstr>Q/A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Bernard Bazimya</cp:lastModifiedBy>
  <cp:revision>17</cp:revision>
  <dcterms:created xsi:type="dcterms:W3CDTF">2013-01-27T09:14:00Z</dcterms:created>
  <dcterms:modified xsi:type="dcterms:W3CDTF">2025-05-04T21:33:52Z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5C4D81E4EE73402D95FF477DAE08EA90_12</vt:lpwstr>
  </property>
  <property fmtid="{D5CDD505-2E9C-101B-9397-08002B2CF9AE}" pid="3" name="KSOProductBuildVer">
    <vt:lpwstr>1033-12.2.0.20795</vt:lpwstr>
  </property>
</Properties>
</file>